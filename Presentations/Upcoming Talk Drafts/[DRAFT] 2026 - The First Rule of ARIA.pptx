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61" r:id="rId4"/>
    <p:sldId id="262" r:id="rId5"/>
    <p:sldId id="263" r:id="rId6"/>
    <p:sldId id="264" r:id="rId7"/>
    <p:sldId id="265" r:id="rId8"/>
    <p:sldId id="260" r:id="rId9"/>
    <p:sldId id="258" r:id="rId10"/>
    <p:sldId id="259" r:id="rId1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66"/>
  </p:normalViewPr>
  <p:slideViewPr>
    <p:cSldViewPr snapToGrid="0">
      <p:cViewPr varScale="1">
        <p:scale>
          <a:sx n="115" d="100"/>
          <a:sy n="115" d="100"/>
        </p:scale>
        <p:origin x="664" y="20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3C13C1-AF11-289A-2591-E59303D14DA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D819846-D843-5793-E1C9-9DCD7F36E9C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75A3E5D-A3D8-9056-13D4-41A6E7C46B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DFC44C-52F2-514B-9FA0-9EBF2D27ACEF}" type="datetimeFigureOut">
              <a:rPr lang="en-US" smtClean="0"/>
              <a:t>5/1/26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1E5E039-A18C-2CED-9F8A-0496FAE5C7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CDFB048-2AE3-5424-DD4E-2EA81821A0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C211DC-C0A6-AB44-B2C6-6B70BA9AF18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1368142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1F53EC-FFB6-2F0E-9603-5A93F8A673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3D51868-FD5B-363C-EE69-B383956521E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1F41D69-A167-1A52-698D-1798B74204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DFC44C-52F2-514B-9FA0-9EBF2D27ACEF}" type="datetimeFigureOut">
              <a:rPr lang="en-US" smtClean="0"/>
              <a:t>5/1/26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DE82BDE-D9E8-8523-731D-141CFDDC39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E7FD1A9-8B68-E65F-716D-AFE1146AB4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C211DC-C0A6-AB44-B2C6-6B70BA9AF18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8034232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297638-5F7E-BFDC-5413-0542D6723F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E0DD6D1-C8FD-0236-6608-239504FADF1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3AC2FBA-B29A-D391-5D79-4E8F606CEA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DFC44C-52F2-514B-9FA0-9EBF2D27ACEF}" type="datetimeFigureOut">
              <a:rPr lang="en-US" smtClean="0"/>
              <a:t>5/1/26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0EACF6E-A535-C6B5-23EF-C38334D2B4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C318D59-7629-D637-2038-1E2669340E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C211DC-C0A6-AB44-B2C6-6B70BA9AF18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0311674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23FEB4-5AB1-D039-5E5D-E5D9CE93B6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4E3C206-F193-26FB-6BA0-F915061A92C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7113ECF-776F-A715-A172-57D3F5DE92E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AD2F423-4DB5-F58C-AC75-84BB5A258F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DFC44C-52F2-514B-9FA0-9EBF2D27ACEF}" type="datetimeFigureOut">
              <a:rPr lang="en-US" smtClean="0"/>
              <a:t>5/1/26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7EAE6C1-02C6-4C0C-1241-6BA242B36F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3ADDA9C-4362-2C6A-E934-C0D2D5F840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C211DC-C0A6-AB44-B2C6-6B70BA9AF18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398320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C938EF-FE4C-B925-1C95-693BDB087C7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A632628-36B4-2089-A173-E97C6A0A86A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9B131D0-5F5F-8BDE-1430-A0268001227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F7AF988-4C39-94DB-28C3-75EA7D9D425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98CFC74-C2DA-ED08-23DE-FB45DCF3C5D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D8AFB4DA-BF59-FBB9-4684-50F1491FCD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DFC44C-52F2-514B-9FA0-9EBF2D27ACEF}" type="datetimeFigureOut">
              <a:rPr lang="en-US" smtClean="0"/>
              <a:t>5/1/26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F9895C9-C553-B349-FFB2-72A5B6FEBA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1F82819-6826-4487-A9B4-0BF57D2F73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C211DC-C0A6-AB44-B2C6-6B70BA9AF18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7758791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B5AB78-8CB8-F145-8DEF-53F8343289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D477773-B771-E94D-4D8D-54EABFD6C0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DFC44C-52F2-514B-9FA0-9EBF2D27ACEF}" type="datetimeFigureOut">
              <a:rPr lang="en-US" smtClean="0"/>
              <a:t>5/1/26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0E8434C-568C-4D83-F791-2B596D65C0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27BF029-9085-86E3-ABFE-94478EB523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C211DC-C0A6-AB44-B2C6-6B70BA9AF18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062772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58FC83C-BA76-AF82-45AD-1525BBF911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DFC44C-52F2-514B-9FA0-9EBF2D27ACEF}" type="datetimeFigureOut">
              <a:rPr lang="en-US" smtClean="0"/>
              <a:t>5/1/26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FC7928C-A996-1F87-99D6-5FBCD99ED1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9E21C39-3AE4-F61C-735E-04F987DF91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C211DC-C0A6-AB44-B2C6-6B70BA9AF18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8433703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59A3EC-4CB3-BA26-365D-EA5F94BFAF9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9B94225-48FB-2371-1C6B-BCD45A9AE26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481E5C8-BA89-5E24-2639-A0350825B1A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FB0D73A-4DA1-0D01-1231-89973182A2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DFC44C-52F2-514B-9FA0-9EBF2D27ACEF}" type="datetimeFigureOut">
              <a:rPr lang="en-US" smtClean="0"/>
              <a:t>5/1/26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FC86684-0424-3EF0-FDE0-3BDA74E491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7B68387-4D0A-7ADC-65B5-581A1CFCFA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C211DC-C0A6-AB44-B2C6-6B70BA9AF18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3661353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B5C1B7-8483-BD42-A5CC-974C3F1705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43D675A-8C68-B986-495E-716CA1BA552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499B941-EC49-37D9-5B37-E6178C2B33A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D6472E6-6FC0-155D-641A-37E4E7ED78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DFC44C-52F2-514B-9FA0-9EBF2D27ACEF}" type="datetimeFigureOut">
              <a:rPr lang="en-US" smtClean="0"/>
              <a:t>5/1/26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FF14E87-6575-02FB-4B8B-A28CD67AF9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334ACB7-73D4-493C-B7E8-7E86B80C5A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C211DC-C0A6-AB44-B2C6-6B70BA9AF18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0586005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7232CA-D205-BB93-26A5-1972111D5D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FEB6166-0E45-5C95-7195-BE21767E7A2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69536AC-BB4C-DACF-1E81-6C6DFF6634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DFC44C-52F2-514B-9FA0-9EBF2D27ACEF}" type="datetimeFigureOut">
              <a:rPr lang="en-US" smtClean="0"/>
              <a:t>5/1/26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391AF62-87F8-348D-29B9-85B15F8F64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AF2A5EE-F755-C721-D76C-5740815E41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C211DC-C0A6-AB44-B2C6-6B70BA9AF18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7792045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BECC5322-BE27-A3A2-34CC-E044F99628B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74DCF48-F3DE-CB1E-876A-69A4660C071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BFBCEB1-841D-D898-BB73-5627F6D507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DFC44C-52F2-514B-9FA0-9EBF2D27ACEF}" type="datetimeFigureOut">
              <a:rPr lang="en-US" smtClean="0"/>
              <a:t>5/1/26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C9E4D25-2E12-C9E7-A1A2-32AFE076F6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5E380B9-AFB8-2FA9-3744-8C816B339D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C211DC-C0A6-AB44-B2C6-6B70BA9AF18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7131176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04D4E6C-12B2-ECED-7D85-C1BC2CD093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3483B9B-3AE3-1431-96FF-9D000F8AEC7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37DB32F-4948-63D9-F677-3F02261489C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1DFC44C-52F2-514B-9FA0-9EBF2D27ACEF}" type="datetimeFigureOut">
              <a:rPr lang="en-US" smtClean="0"/>
              <a:t>5/1/26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0F64923-3480-E195-C40B-DC3133B2C2C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0714DC7-1786-BD3F-7992-E20653AE118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AC211DC-C0A6-AB44-B2C6-6B70BA9AF18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1749097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hyperlink" Target="https://w3c.github.io/using-aria/#bib-html" TargetMode="Externa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hyperlink" Target="https://webaim.org/techniques/javascript/" TargetMode="External"/><Relationship Id="rId3" Type="http://schemas.openxmlformats.org/officeDocument/2006/relationships/hyperlink" Target="https://www.a11yproject.com/posts/aria-has-perfect-support/" TargetMode="External"/><Relationship Id="rId7" Type="http://schemas.openxmlformats.org/officeDocument/2006/relationships/hyperlink" Target="https://w3c.github.io/using-aria/#notes2" TargetMode="External"/><Relationship Id="rId2" Type="http://schemas.openxmlformats.org/officeDocument/2006/relationships/hyperlink" Target="https://developer.mozilla.org/en-US/docs/Web/Accessibility/ARIA" TargetMode="Externa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caniuse.com/?search=aria" TargetMode="External"/><Relationship Id="rId5" Type="http://schemas.openxmlformats.org/officeDocument/2006/relationships/hyperlink" Target="https://www.powermapper.com/tests/screen-readers/aria/" TargetMode="External"/><Relationship Id="rId10" Type="http://schemas.openxmlformats.org/officeDocument/2006/relationships/hyperlink" Target="https://www.w3.org/TR/wai-aria/" TargetMode="External"/><Relationship Id="rId4" Type="http://schemas.openxmlformats.org/officeDocument/2006/relationships/hyperlink" Target="https://www.w3.org/WAI/ARIA/apg/practices/read-me-first/" TargetMode="External"/><Relationship Id="rId9" Type="http://schemas.openxmlformats.org/officeDocument/2006/relationships/hyperlink" Target="https://webaim.org/projects/screenreadersurvey10/#javascript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30DD20-74A1-1B96-61A0-648BE59C897B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The First Rule of ARIA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24C5A67-D9FE-2AFE-1BD2-9A102272A41F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Don’t Use it!</a:t>
            </a:r>
          </a:p>
        </p:txBody>
      </p:sp>
    </p:spTree>
    <p:extLst>
      <p:ext uri="{BB962C8B-B14F-4D97-AF65-F5344CB8AC3E}">
        <p14:creationId xmlns:p14="http://schemas.microsoft.com/office/powerpoint/2010/main" val="251034232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95BAD6-0EC3-C7E7-0E6E-156AB6E722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is WAI-ARIA?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916C796-F19F-57B5-4247-EA9281AF829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9962711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7DF367-B446-94E7-4ED6-6862329D42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First Rule of ARIA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34EBA45-41D0-4B7F-0B1E-8A22BE92088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If you </a:t>
            </a:r>
            <a:r>
              <a:rPr lang="en-US" i="1" dirty="0"/>
              <a:t>can</a:t>
            </a:r>
            <a:r>
              <a:rPr lang="en-US" dirty="0"/>
              <a:t> use a native HTML element [</a:t>
            </a:r>
            <a:r>
              <a:rPr lang="en-US" i="1" dirty="0">
                <a:hlinkClick r:id="rId2" tooltip="HTML Standard"/>
              </a:rPr>
              <a:t>HTML</a:t>
            </a:r>
            <a:r>
              <a:rPr lang="en-US" dirty="0"/>
              <a:t>] or attribute with the semantics and behavior you require </a:t>
            </a:r>
            <a:r>
              <a:rPr lang="en-US" b="1" dirty="0"/>
              <a:t>already built in</a:t>
            </a:r>
            <a:r>
              <a:rPr lang="en-US" dirty="0"/>
              <a:t>, instead of re-purposing an element and adding an ARIA role, state or property to make it accessible</a:t>
            </a:r>
            <a:r>
              <a:rPr lang="en-US" b="1" dirty="0"/>
              <a:t>, then do so</a:t>
            </a:r>
            <a:r>
              <a:rPr lang="en-US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46504206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0B5BE0-04C5-7C30-93EE-96FD37A2E5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Second Rule of ARIA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2FE74D6-F483-0760-68D5-F4A9DD604E5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Do not change native semantics, unless you really have to.</a:t>
            </a:r>
          </a:p>
        </p:txBody>
      </p:sp>
    </p:spTree>
    <p:extLst>
      <p:ext uri="{BB962C8B-B14F-4D97-AF65-F5344CB8AC3E}">
        <p14:creationId xmlns:p14="http://schemas.microsoft.com/office/powerpoint/2010/main" val="89884167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DD82F8-3F8A-1144-7FAD-9623FC85C0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Third Rule of ARIA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4FAD8F3-3C32-6507-F3B8-018C13BC6C4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All interactive ARIA controls must be usable with the keyboard.</a:t>
            </a:r>
          </a:p>
        </p:txBody>
      </p:sp>
    </p:spTree>
    <p:extLst>
      <p:ext uri="{BB962C8B-B14F-4D97-AF65-F5344CB8AC3E}">
        <p14:creationId xmlns:p14="http://schemas.microsoft.com/office/powerpoint/2010/main" val="50012950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5FA246-9702-BAAC-98CA-A7E1466EBA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Fourth Rule of ARIA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0B1DAAA-2B10-D5DC-21AC-2877764A672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Do not use role="presentation" or aria-hidden="true" on a </a:t>
            </a:r>
            <a:r>
              <a:rPr lang="en-US" b="1" dirty="0"/>
              <a:t>focusable</a:t>
            </a:r>
            <a:r>
              <a:rPr lang="en-US" dirty="0"/>
              <a:t> element .</a:t>
            </a:r>
          </a:p>
          <a:p>
            <a:r>
              <a:rPr lang="en-US" dirty="0"/>
              <a:t>Using either of these on a </a:t>
            </a:r>
            <a:r>
              <a:rPr lang="en-US" b="1" dirty="0"/>
              <a:t>focusable</a:t>
            </a:r>
            <a:r>
              <a:rPr lang="en-US" dirty="0"/>
              <a:t> element will result in some users focusing on 'nothing'.</a:t>
            </a:r>
          </a:p>
        </p:txBody>
      </p:sp>
    </p:spTree>
    <p:extLst>
      <p:ext uri="{BB962C8B-B14F-4D97-AF65-F5344CB8AC3E}">
        <p14:creationId xmlns:p14="http://schemas.microsoft.com/office/powerpoint/2010/main" val="214313969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E84AE5-D206-5DCF-2164-FACEA32C41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Fifth Rule of ARIA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795B18A-0979-CD81-5011-C46DD37E4F1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All interactive elements must have an accessible name.</a:t>
            </a:r>
          </a:p>
        </p:txBody>
      </p:sp>
    </p:spTree>
    <p:extLst>
      <p:ext uri="{BB962C8B-B14F-4D97-AF65-F5344CB8AC3E}">
        <p14:creationId xmlns:p14="http://schemas.microsoft.com/office/powerpoint/2010/main" val="243956234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63D595-309A-54BC-CBA8-C9BC6A142A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Gap Filler or Bridge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6B10CEE-C5B5-9783-30D6-D3910221A00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9006239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49F9B7-0744-4690-E76C-48E91FBF4E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Common Mistakes with ARIA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7F5BFEB-48DC-D550-7924-07B63879443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62500" lnSpcReduction="20000"/>
          </a:bodyPr>
          <a:lstStyle/>
          <a:p>
            <a:r>
              <a:rPr lang="en-US" dirty="0"/>
              <a:t>Unnecessarily using both aria and explicit roles, states, etc.</a:t>
            </a:r>
          </a:p>
          <a:p>
            <a:pPr lvl="1"/>
            <a:r>
              <a:rPr lang="en-US" dirty="0"/>
              <a:t>Using both can lead to users just being overwhelmed with repetitive information or cause miscommunication.</a:t>
            </a:r>
          </a:p>
          <a:p>
            <a:pPr lvl="1"/>
            <a:r>
              <a:rPr lang="en-US" dirty="0"/>
              <a:t>In many cases, the explicit will override the ARIA.</a:t>
            </a:r>
          </a:p>
          <a:p>
            <a:pPr lvl="1"/>
            <a:r>
              <a:rPr lang="en-US" dirty="0"/>
              <a:t>For example, if an element has </a:t>
            </a:r>
            <a:r>
              <a:rPr lang="en-US" b="1" dirty="0"/>
              <a:t>aria-checked=“false”</a:t>
            </a:r>
            <a:r>
              <a:rPr lang="en-US" dirty="0"/>
              <a:t> and </a:t>
            </a:r>
            <a:r>
              <a:rPr lang="en-US" b="1" dirty="0"/>
              <a:t>checked</a:t>
            </a:r>
            <a:r>
              <a:rPr lang="en-US" dirty="0"/>
              <a:t>, it could be announced that an element is checked even if it isn’t or vice versa, which could cause trouble for users trying to reliably fill out a form.</a:t>
            </a:r>
          </a:p>
          <a:p>
            <a:r>
              <a:rPr lang="en-US" dirty="0"/>
              <a:t>Using them on invalid elements</a:t>
            </a:r>
          </a:p>
          <a:p>
            <a:pPr lvl="1"/>
            <a:r>
              <a:rPr lang="en-US" dirty="0"/>
              <a:t>Div without a valid role applied</a:t>
            </a:r>
          </a:p>
          <a:p>
            <a:r>
              <a:rPr lang="en-US" dirty="0"/>
              <a:t>Using the parent role but not the required child roles, or invalid child roles</a:t>
            </a:r>
          </a:p>
          <a:p>
            <a:pPr lvl="1"/>
            <a:r>
              <a:rPr lang="en-US" dirty="0"/>
              <a:t>Misspellings (role=“image” instead of role=“</a:t>
            </a:r>
            <a:r>
              <a:rPr lang="en-US" dirty="0" err="1"/>
              <a:t>img</a:t>
            </a:r>
            <a:r>
              <a:rPr lang="en-US" dirty="0"/>
              <a:t>”</a:t>
            </a:r>
          </a:p>
          <a:p>
            <a:r>
              <a:rPr lang="en-US" dirty="0"/>
              <a:t>Not including additional styling and scripting to preserve expected behaviors.</a:t>
            </a:r>
          </a:p>
          <a:p>
            <a:pPr lvl="1"/>
            <a:r>
              <a:rPr lang="en-US" dirty="0"/>
              <a:t>ARIA impacts non-visual communication of roles, states, and properties. Not the visual.</a:t>
            </a:r>
          </a:p>
          <a:p>
            <a:pPr lvl="1"/>
            <a:r>
              <a:rPr lang="en-US" dirty="0"/>
              <a:t>If visual and non-visual don’t match up, you risk misrepresenting what information is being presented.</a:t>
            </a:r>
          </a:p>
          <a:p>
            <a:r>
              <a:rPr lang="en-US" dirty="0"/>
              <a:t>Using the newest ARIA attributes too early, or without considering compatibility.</a:t>
            </a:r>
          </a:p>
          <a:p>
            <a:pPr lvl="1"/>
            <a:r>
              <a:rPr lang="en-US" dirty="0"/>
              <a:t>ARIA 1.2 was released June 2023</a:t>
            </a:r>
          </a:p>
          <a:p>
            <a:pPr lvl="1"/>
            <a:r>
              <a:rPr lang="en-US" dirty="0"/>
              <a:t>The best browser / screen reader combos still only support 94% of ARIA attributes. The average support is 78%.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3737490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8A0181-CBF1-2DF9-C208-5A1319E134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Resources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70A238E-1ECA-ACF7-B1CF-6B2821EEDBE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dirty="0">
                <a:hlinkClick r:id="rId2"/>
              </a:rPr>
              <a:t>https://developer.mozilla.org/en-US/docs/Web/Accessibility/ARIA</a:t>
            </a:r>
            <a:endParaRPr lang="en-US" dirty="0"/>
          </a:p>
          <a:p>
            <a:r>
              <a:rPr lang="en-US" dirty="0">
                <a:hlinkClick r:id="rId3"/>
              </a:rPr>
              <a:t>https://www.a11yproject.com/posts/aria-has-perfect-support/</a:t>
            </a:r>
            <a:endParaRPr lang="en-US" dirty="0"/>
          </a:p>
          <a:p>
            <a:r>
              <a:rPr lang="en-US" dirty="0">
                <a:hlinkClick r:id="rId4"/>
              </a:rPr>
              <a:t>https://www.w3.org/WAI/ARIA/apg/practices/read-me-first/</a:t>
            </a:r>
            <a:endParaRPr lang="en-US" dirty="0"/>
          </a:p>
          <a:p>
            <a:r>
              <a:rPr lang="en-US" dirty="0">
                <a:hlinkClick r:id="rId5"/>
              </a:rPr>
              <a:t>https://www.powermapper.com/tests/screen-readers/aria/</a:t>
            </a:r>
            <a:endParaRPr lang="en-US" dirty="0"/>
          </a:p>
          <a:p>
            <a:r>
              <a:rPr lang="en-US" dirty="0">
                <a:hlinkClick r:id="rId6"/>
              </a:rPr>
              <a:t>https://caniuse.com/?search=aria</a:t>
            </a:r>
            <a:endParaRPr lang="en-US" dirty="0"/>
          </a:p>
          <a:p>
            <a:r>
              <a:rPr lang="en-US" dirty="0">
                <a:hlinkClick r:id="rId7"/>
              </a:rPr>
              <a:t>https://w3c.github.io/using-aria/#notes2</a:t>
            </a:r>
            <a:endParaRPr lang="en-US" dirty="0"/>
          </a:p>
          <a:p>
            <a:r>
              <a:rPr lang="en-US" dirty="0">
                <a:hlinkClick r:id="rId8"/>
              </a:rPr>
              <a:t>https://webaim.org/techniques/javascript/</a:t>
            </a:r>
            <a:endParaRPr lang="en-US" dirty="0"/>
          </a:p>
          <a:p>
            <a:r>
              <a:rPr lang="en-US" dirty="0">
                <a:hlinkClick r:id="rId9"/>
              </a:rPr>
              <a:t>https://webaim.org/projects/screenreadersurvey10/#javascript</a:t>
            </a:r>
            <a:r>
              <a:rPr lang="en-US" dirty="0"/>
              <a:t> (2023)</a:t>
            </a:r>
          </a:p>
          <a:p>
            <a:r>
              <a:rPr lang="en-US" dirty="0">
                <a:hlinkClick r:id="rId10"/>
              </a:rPr>
              <a:t>https://www.w3.org/TR/wai-aria/</a:t>
            </a:r>
            <a:endParaRPr lang="en-US" dirty="0"/>
          </a:p>
          <a:p>
            <a:r>
              <a:rPr lang="en-US" dirty="0"/>
              <a:t>https://</a:t>
            </a:r>
            <a:r>
              <a:rPr lang="en-US" dirty="0" err="1"/>
              <a:t>www.deque.com</a:t>
            </a:r>
            <a:r>
              <a:rPr lang="en-US" dirty="0"/>
              <a:t>/blog/top-5-rules-of-aria/</a:t>
            </a:r>
          </a:p>
        </p:txBody>
      </p:sp>
    </p:spTree>
    <p:extLst>
      <p:ext uri="{BB962C8B-B14F-4D97-AF65-F5344CB8AC3E}">
        <p14:creationId xmlns:p14="http://schemas.microsoft.com/office/powerpoint/2010/main" val="215264137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5735</TotalTime>
  <Words>491</Words>
  <Application>Microsoft Macintosh PowerPoint</Application>
  <PresentationFormat>Widescreen</PresentationFormat>
  <Paragraphs>41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4" baseType="lpstr">
      <vt:lpstr>Aptos</vt:lpstr>
      <vt:lpstr>Aptos Display</vt:lpstr>
      <vt:lpstr>Arial</vt:lpstr>
      <vt:lpstr>Office Theme</vt:lpstr>
      <vt:lpstr>The First Rule of ARIA</vt:lpstr>
      <vt:lpstr>What is WAI-ARIA?</vt:lpstr>
      <vt:lpstr>First Rule of ARIA</vt:lpstr>
      <vt:lpstr>Second Rule of ARIA</vt:lpstr>
      <vt:lpstr>Third Rule of ARIA</vt:lpstr>
      <vt:lpstr>Fourth Rule of ARIA</vt:lpstr>
      <vt:lpstr>Fifth Rule of ARIA</vt:lpstr>
      <vt:lpstr>Gap Filler or Bridge</vt:lpstr>
      <vt:lpstr>Common Mistakes with ARIA</vt:lpstr>
      <vt:lpstr>Resources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Erissa Duvall</dc:creator>
  <cp:lastModifiedBy>Erissa Duvall</cp:lastModifiedBy>
  <cp:revision>5</cp:revision>
  <dcterms:created xsi:type="dcterms:W3CDTF">2026-05-01T14:52:12Z</dcterms:created>
  <dcterms:modified xsi:type="dcterms:W3CDTF">2026-05-05T14:27:16Z</dcterms:modified>
</cp:coreProperties>
</file>